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2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99339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AIR-FRYER MARKET INTELLIGENCE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" y="2377440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Demand, Features &amp; Profitability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94944" y="3182112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DE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intelligence from 2019–2023 Amazon purchase data across 10 air-fryer brands.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13232" y="3840480"/>
            <a:ext cx="393192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572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510235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363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brand-year observations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907792" y="4572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907792" y="510235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363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brands tracked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120640" y="4572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 yrs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120640" y="510235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363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 window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 overview: clear price tiers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8778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363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dataset covers every brand in every year from 2019 through 2023.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58368" y="1417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10×5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" y="194767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363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panel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487168" y="14173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4.3–4.8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487168" y="194767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363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tight ratings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370832" y="14173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$224+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370832" y="194767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363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 ceiling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13232" y="27432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A2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READ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9808" y="3108960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35808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 brands sit well above the market: Cuisinart and Oster anchor the high-price tier.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49808" y="3557016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483864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brands remain materially cheaper, especially Dash and Ultrean.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49808" y="4005072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931920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Ratings are consistently strong, so brand position and product features matter more than quality gaps alone.</a:t>
            </a:r>
            <a:endParaRPr lang="en-US" sz="1550" dirty="0"/>
          </a:p>
        </p:txBody>
      </p:sp>
      <p:pic>
        <p:nvPicPr>
          <p:cNvPr id="18" name="Image 0" descr="/mnt/data/airfryer_assets/cell_5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28" y="1891373"/>
            <a:ext cx="5440680" cy="3248989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83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Air-Fryer Market Intelligence  | 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Prices and ratings: persistent tiers, compressed quality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8778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363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few brands maintain persistent price leadership, while ratings stay compressed across brands.</a:t>
            </a:r>
            <a:endParaRPr lang="en-US" sz="1350" dirty="0"/>
          </a:p>
        </p:txBody>
      </p:sp>
      <p:pic>
        <p:nvPicPr>
          <p:cNvPr id="5" name="Image 0" descr="/mnt/data/airfryer_assets/cell_5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35925"/>
            <a:ext cx="5440680" cy="3248989"/>
          </a:xfrm>
          <a:prstGeom prst="rect">
            <a:avLst/>
          </a:prstGeom>
        </p:spPr>
      </p:pic>
      <p:pic>
        <p:nvPicPr>
          <p:cNvPr id="6" name="Image 1" descr="/mnt/data/airfryer_assets/cell_6_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1735925"/>
            <a:ext cx="5440680" cy="324898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3232" y="56235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IMPLICATION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2221992" y="5596128"/>
            <a:ext cx="928116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Pricing is a stronger differentiator than ratings. Ninja, Ultrean, and Cosori rate highly, but their prices and share trajectories differ, indicating demand is not explained by rating alone.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83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Air-Fryer Market Intelligence  | 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 share: leadership shifted toward Instant Pot and Ninja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8778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363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market became more dynamic over time, with sharper share movements than price or rating changes.</a:t>
            </a:r>
            <a:endParaRPr lang="en-US" sz="1350" dirty="0"/>
          </a:p>
        </p:txBody>
      </p:sp>
      <p:pic>
        <p:nvPicPr>
          <p:cNvPr id="5" name="Image 0" descr="/mnt/data/airfryer_assets/cell_7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967"/>
            <a:ext cx="6903720" cy="41226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26680" y="1417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A2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MOVEMENTS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754112" y="1856232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18704" y="1783080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GoWise USA fell from roughly 29% share in 2019 to nearly 5% by 2023.</a:t>
            </a:r>
            <a:endParaRPr lang="en-US" sz="1470" dirty="0"/>
          </a:p>
        </p:txBody>
      </p:sp>
      <p:sp>
        <p:nvSpPr>
          <p:cNvPr id="9" name="Shape 6"/>
          <p:cNvSpPr/>
          <p:nvPr/>
        </p:nvSpPr>
        <p:spPr>
          <a:xfrm>
            <a:off x="7754112" y="2322576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18704" y="2249424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Instant Pot rose from a small share position to the 2023 market leader at roughly 23%.</a:t>
            </a:r>
            <a:endParaRPr lang="en-US" sz="1470" dirty="0"/>
          </a:p>
        </p:txBody>
      </p:sp>
      <p:sp>
        <p:nvSpPr>
          <p:cNvPr id="11" name="Shape 8"/>
          <p:cNvSpPr/>
          <p:nvPr/>
        </p:nvSpPr>
        <p:spPr>
          <a:xfrm>
            <a:off x="7754112" y="2788920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18704" y="2715768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Ninja built a consistently rising position and reached roughly 22% in 2023.</a:t>
            </a:r>
            <a:endParaRPr lang="en-US" sz="1470" dirty="0"/>
          </a:p>
        </p:txBody>
      </p:sp>
      <p:sp>
        <p:nvSpPr>
          <p:cNvPr id="13" name="Shape 10"/>
          <p:cNvSpPr/>
          <p:nvPr/>
        </p:nvSpPr>
        <p:spPr>
          <a:xfrm>
            <a:off x="7754112" y="3255264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18704" y="3182112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Cosori and Chefman gained momentum by 2023, while Oster stayed niche.</a:t>
            </a:r>
            <a:endParaRPr lang="en-US" sz="1470" dirty="0"/>
          </a:p>
        </p:txBody>
      </p:sp>
      <p:sp>
        <p:nvSpPr>
          <p:cNvPr id="15" name="Text 12"/>
          <p:cNvSpPr/>
          <p:nvPr/>
        </p:nvSpPr>
        <p:spPr>
          <a:xfrm>
            <a:off x="7772400" y="53492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MEANING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281160" y="5321808"/>
            <a:ext cx="214884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share shifted toward brands that combine strong ratings with accessible-but-not-low-end pricing.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83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Air-Fryer Market Intelligence  | 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Demand model: negative price sensitivity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8778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363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Multinomial-logit style demand was estimated with linear regression on log market share.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13232" y="1344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structure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13232" y="1737360"/>
            <a:ext cx="50292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log(brand share) = price + rating + product features + brand effects + year effects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68096" y="2724912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651760"/>
            <a:ext cx="4773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OLS regression explains 76.3% of variation in log brand share; adjusted R² is 60.0%.</a:t>
            </a:r>
            <a:endParaRPr lang="en-US" sz="1480" dirty="0"/>
          </a:p>
        </p:txBody>
      </p:sp>
      <p:sp>
        <p:nvSpPr>
          <p:cNvPr id="9" name="Shape 7"/>
          <p:cNvSpPr/>
          <p:nvPr/>
        </p:nvSpPr>
        <p:spPr>
          <a:xfrm>
            <a:off x="768096" y="3182112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3108960"/>
            <a:ext cx="4773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and year controls separate persistent brand strength from market-wide time shifts.</a:t>
            </a:r>
            <a:endParaRPr lang="en-US" sz="1480" dirty="0"/>
          </a:p>
        </p:txBody>
      </p:sp>
      <p:sp>
        <p:nvSpPr>
          <p:cNvPr id="11" name="Shape 9"/>
          <p:cNvSpPr/>
          <p:nvPr/>
        </p:nvSpPr>
        <p:spPr>
          <a:xfrm>
            <a:off x="768096" y="3639312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566160"/>
            <a:ext cx="4773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is intentionally simple, but useful for market intelligence and strategic comparison.</a:t>
            </a:r>
            <a:endParaRPr lang="en-US" sz="1480" dirty="0"/>
          </a:p>
        </p:txBody>
      </p:sp>
      <p:sp>
        <p:nvSpPr>
          <p:cNvPr id="13" name="Shape 11"/>
          <p:cNvSpPr/>
          <p:nvPr/>
        </p:nvSpPr>
        <p:spPr>
          <a:xfrm>
            <a:off x="6236208" y="1408176"/>
            <a:ext cx="5166360" cy="1143000"/>
          </a:xfrm>
          <a:prstGeom prst="rect">
            <a:avLst>
              <a:gd name="adj" fmla="val 8000"/>
            </a:avLst>
          </a:prstGeom>
          <a:solidFill>
            <a:srgbClr val="EFE7D8"/>
          </a:solidFill>
          <a:ln w="12700">
            <a:solidFill>
              <a:srgbClr val="EFE7D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60934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363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Estimated price coefficient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098280" y="1426464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100" b="1" dirty="0">
                <a:solidFill>
                  <a:srgbClr val="C651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-0.0377</a:t>
            </a:r>
            <a:endParaRPr lang="en-US" sz="3100" dirty="0"/>
          </a:p>
        </p:txBody>
      </p:sp>
      <p:sp>
        <p:nvSpPr>
          <p:cNvPr id="16" name="Text 14"/>
          <p:cNvSpPr/>
          <p:nvPr/>
        </p:nvSpPr>
        <p:spPr>
          <a:xfrm>
            <a:off x="9290304" y="1993392"/>
            <a:ext cx="1874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363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= 0.002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91072" y="28712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A2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SIGN MATTERS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27648" y="3255264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3182112"/>
            <a:ext cx="4910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 sign confirms demand slopes downward: higher price is associated with lower market share.</a:t>
            </a:r>
            <a:endParaRPr lang="en-US" sz="1480" dirty="0"/>
          </a:p>
        </p:txBody>
      </p:sp>
      <p:sp>
        <p:nvSpPr>
          <p:cNvPr id="20" name="Shape 18"/>
          <p:cNvSpPr/>
          <p:nvPr/>
        </p:nvSpPr>
        <p:spPr>
          <a:xfrm>
            <a:off x="6327648" y="3749040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675888"/>
            <a:ext cx="4910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validates using the demand slope to infer markups and unit costs.</a:t>
            </a:r>
            <a:endParaRPr lang="en-US" sz="1480" dirty="0"/>
          </a:p>
        </p:txBody>
      </p:sp>
      <p:sp>
        <p:nvSpPr>
          <p:cNvPr id="22" name="Shape 20"/>
          <p:cNvSpPr/>
          <p:nvPr/>
        </p:nvSpPr>
        <p:spPr>
          <a:xfrm>
            <a:off x="6327648" y="4242816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169664"/>
            <a:ext cx="4910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positive sign would undermine the core economic interpretation and the cost/profit exercise.</a:t>
            </a:r>
            <a:endParaRPr lang="en-US" sz="1480" dirty="0"/>
          </a:p>
        </p:txBody>
      </p:sp>
      <p:sp>
        <p:nvSpPr>
          <p:cNvPr id="24" name="Text 22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83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Air-Fryer Market Intelligence  | 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Features: compact and window designs screen favorably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8778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363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estimates should be read directionally because some features are rare in the data.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755648"/>
            <a:ext cx="516636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44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97480" y="14447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Avg prevalence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0" y="14447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 coefficient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1865376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Compact</a:t>
            </a:r>
            <a:endParaRPr lang="en-US" sz="1270" dirty="0"/>
          </a:p>
        </p:txBody>
      </p:sp>
      <p:sp>
        <p:nvSpPr>
          <p:cNvPr id="10" name="Text 8"/>
          <p:cNvSpPr/>
          <p:nvPr/>
        </p:nvSpPr>
        <p:spPr>
          <a:xfrm>
            <a:off x="2697480" y="1865376"/>
            <a:ext cx="1417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7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98.0%</a:t>
            </a:r>
            <a:endParaRPr lang="en-US" sz="1270" dirty="0"/>
          </a:p>
        </p:txBody>
      </p:sp>
      <p:sp>
        <p:nvSpPr>
          <p:cNvPr id="11" name="Text 9"/>
          <p:cNvSpPr/>
          <p:nvPr/>
        </p:nvSpPr>
        <p:spPr>
          <a:xfrm>
            <a:off x="4114800" y="1865376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70" b="1" dirty="0">
                <a:solidFill>
                  <a:srgbClr val="4C9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+9.82</a:t>
            </a:r>
            <a:endParaRPr lang="en-US" sz="1270" dirty="0"/>
          </a:p>
        </p:txBody>
      </p:sp>
      <p:sp>
        <p:nvSpPr>
          <p:cNvPr id="12" name="Shape 10"/>
          <p:cNvSpPr/>
          <p:nvPr/>
        </p:nvSpPr>
        <p:spPr>
          <a:xfrm>
            <a:off x="685800" y="2231136"/>
            <a:ext cx="5166360" cy="0"/>
          </a:xfrm>
          <a:prstGeom prst="line">
            <a:avLst/>
          </a:prstGeom>
          <a:noFill/>
          <a:ln w="6350">
            <a:solidFill>
              <a:srgbClr val="E7E0D0">
                <a:alpha val="7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249424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Oven style</a:t>
            </a:r>
            <a:endParaRPr lang="en-US" sz="1270" dirty="0"/>
          </a:p>
        </p:txBody>
      </p:sp>
      <p:sp>
        <p:nvSpPr>
          <p:cNvPr id="14" name="Text 12"/>
          <p:cNvSpPr/>
          <p:nvPr/>
        </p:nvSpPr>
        <p:spPr>
          <a:xfrm>
            <a:off x="2697480" y="2249424"/>
            <a:ext cx="1417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7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56.3%</a:t>
            </a:r>
            <a:endParaRPr lang="en-US" sz="1270" dirty="0"/>
          </a:p>
        </p:txBody>
      </p:sp>
      <p:sp>
        <p:nvSpPr>
          <p:cNvPr id="15" name="Text 13"/>
          <p:cNvSpPr/>
          <p:nvPr/>
        </p:nvSpPr>
        <p:spPr>
          <a:xfrm>
            <a:off x="4114800" y="2249424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70" dirty="0">
                <a:solidFill>
                  <a:srgbClr val="4C9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+1.94</a:t>
            </a:r>
            <a:endParaRPr lang="en-US" sz="1270" dirty="0"/>
          </a:p>
        </p:txBody>
      </p:sp>
      <p:sp>
        <p:nvSpPr>
          <p:cNvPr id="16" name="Shape 14"/>
          <p:cNvSpPr/>
          <p:nvPr/>
        </p:nvSpPr>
        <p:spPr>
          <a:xfrm>
            <a:off x="685800" y="2615184"/>
            <a:ext cx="5166360" cy="0"/>
          </a:xfrm>
          <a:prstGeom prst="line">
            <a:avLst/>
          </a:prstGeom>
          <a:noFill/>
          <a:ln w="6350">
            <a:solidFill>
              <a:srgbClr val="E7E0D0">
                <a:alpha val="7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633472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</a:t>
            </a:r>
            <a:endParaRPr lang="en-US" sz="1270" dirty="0"/>
          </a:p>
        </p:txBody>
      </p:sp>
      <p:sp>
        <p:nvSpPr>
          <p:cNvPr id="18" name="Text 16"/>
          <p:cNvSpPr/>
          <p:nvPr/>
        </p:nvSpPr>
        <p:spPr>
          <a:xfrm>
            <a:off x="2697480" y="2633472"/>
            <a:ext cx="1417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7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3.7%</a:t>
            </a:r>
            <a:endParaRPr lang="en-US" sz="1270" dirty="0"/>
          </a:p>
        </p:txBody>
      </p:sp>
      <p:sp>
        <p:nvSpPr>
          <p:cNvPr id="19" name="Text 17"/>
          <p:cNvSpPr/>
          <p:nvPr/>
        </p:nvSpPr>
        <p:spPr>
          <a:xfrm>
            <a:off x="4114800" y="2633472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70" b="1" dirty="0">
                <a:solidFill>
                  <a:srgbClr val="4C9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+12.88</a:t>
            </a:r>
            <a:endParaRPr lang="en-US" sz="1270" dirty="0"/>
          </a:p>
        </p:txBody>
      </p:sp>
      <p:sp>
        <p:nvSpPr>
          <p:cNvPr id="20" name="Shape 18"/>
          <p:cNvSpPr/>
          <p:nvPr/>
        </p:nvSpPr>
        <p:spPr>
          <a:xfrm>
            <a:off x="685800" y="2999232"/>
            <a:ext cx="5166360" cy="0"/>
          </a:xfrm>
          <a:prstGeom prst="line">
            <a:avLst/>
          </a:prstGeom>
          <a:noFill/>
          <a:ln w="6350">
            <a:solidFill>
              <a:srgbClr val="E7E0D0">
                <a:alpha val="7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017520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Rotisserie</a:t>
            </a:r>
            <a:endParaRPr lang="en-US" sz="1270" dirty="0"/>
          </a:p>
        </p:txBody>
      </p:sp>
      <p:sp>
        <p:nvSpPr>
          <p:cNvPr id="22" name="Text 20"/>
          <p:cNvSpPr/>
          <p:nvPr/>
        </p:nvSpPr>
        <p:spPr>
          <a:xfrm>
            <a:off x="2697480" y="3017520"/>
            <a:ext cx="1417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7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7.1%</a:t>
            </a:r>
            <a:endParaRPr lang="en-US" sz="1270" dirty="0"/>
          </a:p>
        </p:txBody>
      </p:sp>
      <p:sp>
        <p:nvSpPr>
          <p:cNvPr id="23" name="Text 21"/>
          <p:cNvSpPr/>
          <p:nvPr/>
        </p:nvSpPr>
        <p:spPr>
          <a:xfrm>
            <a:off x="4114800" y="3017520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70" dirty="0">
                <a:solidFill>
                  <a:srgbClr val="C651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−5.67</a:t>
            </a:r>
            <a:endParaRPr lang="en-US" sz="1270" dirty="0"/>
          </a:p>
        </p:txBody>
      </p:sp>
      <p:sp>
        <p:nvSpPr>
          <p:cNvPr id="24" name="Shape 22"/>
          <p:cNvSpPr/>
          <p:nvPr/>
        </p:nvSpPr>
        <p:spPr>
          <a:xfrm>
            <a:off x="685800" y="3383280"/>
            <a:ext cx="5166360" cy="0"/>
          </a:xfrm>
          <a:prstGeom prst="line">
            <a:avLst/>
          </a:prstGeom>
          <a:noFill/>
          <a:ln w="6350">
            <a:solidFill>
              <a:srgbClr val="E7E0D0">
                <a:alpha val="7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401568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Dual basket</a:t>
            </a:r>
            <a:endParaRPr lang="en-US" sz="1270" dirty="0"/>
          </a:p>
        </p:txBody>
      </p:sp>
      <p:sp>
        <p:nvSpPr>
          <p:cNvPr id="26" name="Text 24"/>
          <p:cNvSpPr/>
          <p:nvPr/>
        </p:nvSpPr>
        <p:spPr>
          <a:xfrm>
            <a:off x="2697480" y="3401568"/>
            <a:ext cx="1417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7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0.2%</a:t>
            </a:r>
            <a:endParaRPr lang="en-US" sz="1270" dirty="0"/>
          </a:p>
        </p:txBody>
      </p:sp>
      <p:sp>
        <p:nvSpPr>
          <p:cNvPr id="27" name="Text 25"/>
          <p:cNvSpPr/>
          <p:nvPr/>
        </p:nvSpPr>
        <p:spPr>
          <a:xfrm>
            <a:off x="4114800" y="3401568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70" dirty="0">
                <a:solidFill>
                  <a:srgbClr val="C651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−9.51</a:t>
            </a:r>
            <a:endParaRPr lang="en-US" sz="1270" dirty="0"/>
          </a:p>
        </p:txBody>
      </p:sp>
      <p:sp>
        <p:nvSpPr>
          <p:cNvPr id="28" name="Shape 26"/>
          <p:cNvSpPr/>
          <p:nvPr/>
        </p:nvSpPr>
        <p:spPr>
          <a:xfrm>
            <a:off x="685800" y="3767328"/>
            <a:ext cx="5166360" cy="0"/>
          </a:xfrm>
          <a:prstGeom prst="line">
            <a:avLst/>
          </a:prstGeom>
          <a:noFill/>
          <a:ln w="6350">
            <a:solidFill>
              <a:srgbClr val="E7E0D0">
                <a:alpha val="7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44805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A2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READOUT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86384" y="4846320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0976" y="4773168"/>
            <a:ext cx="5138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and compact features have the largest positive estimates; compact is nearly universal, while windows are rare but potentially differentiating.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786384" y="5266944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0976" y="5193792"/>
            <a:ext cx="5138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Oven-style designs are common and modestly positive, suggesting a mainstream feature rather than a sharp differentiator.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786384" y="5687568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0976" y="5614416"/>
            <a:ext cx="5138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Rotisserie and dual-basket coefficients are negative in this model; dual-basket is too rare to overinterpret.</a:t>
            </a:r>
            <a:endParaRPr lang="en-US" sz="1350" dirty="0"/>
          </a:p>
        </p:txBody>
      </p:sp>
      <p:pic>
        <p:nvPicPr>
          <p:cNvPr id="36" name="Image 0" descr="/mnt/data/airfryer_assets/feature_coeffici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2075186"/>
            <a:ext cx="5166360" cy="3210547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83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Air-Fryer Market Intelligence  | 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Conclusion: Ninja and Instant Pot have strongest economics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8778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363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Model-implied economics separate premium pricing from profit leadership.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1636776"/>
            <a:ext cx="5303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3258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</a:t>
            </a:r>
            <a:endParaRPr lang="en-US" sz="980" dirty="0"/>
          </a:p>
        </p:txBody>
      </p:sp>
      <p:sp>
        <p:nvSpPr>
          <p:cNvPr id="7" name="Text 5"/>
          <p:cNvSpPr/>
          <p:nvPr/>
        </p:nvSpPr>
        <p:spPr>
          <a:xfrm>
            <a:off x="2075688" y="13258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cost</a:t>
            </a:r>
            <a:endParaRPr lang="en-US" sz="980" dirty="0"/>
          </a:p>
        </p:txBody>
      </p:sp>
      <p:sp>
        <p:nvSpPr>
          <p:cNvPr id="8" name="Text 6"/>
          <p:cNvSpPr/>
          <p:nvPr/>
        </p:nvSpPr>
        <p:spPr>
          <a:xfrm>
            <a:off x="3172968" y="132588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Markup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4224528" y="13258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Share-weighted profit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658368" y="174650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Ninja</a:t>
            </a:r>
            <a:endParaRPr lang="en-US" sz="1160" dirty="0"/>
          </a:p>
        </p:txBody>
      </p:sp>
      <p:sp>
        <p:nvSpPr>
          <p:cNvPr id="11" name="Text 9"/>
          <p:cNvSpPr/>
          <p:nvPr/>
        </p:nvSpPr>
        <p:spPr>
          <a:xfrm>
            <a:off x="2075688" y="174650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6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$112.49</a:t>
            </a:r>
            <a:endParaRPr lang="en-US" sz="1160" dirty="0"/>
          </a:p>
        </p:txBody>
      </p:sp>
      <p:sp>
        <p:nvSpPr>
          <p:cNvPr id="12" name="Text 10"/>
          <p:cNvSpPr/>
          <p:nvPr/>
        </p:nvSpPr>
        <p:spPr>
          <a:xfrm>
            <a:off x="3172968" y="1746504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6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$32.85</a:t>
            </a:r>
            <a:endParaRPr lang="en-US" sz="1160" dirty="0"/>
          </a:p>
        </p:txBody>
      </p:sp>
      <p:sp>
        <p:nvSpPr>
          <p:cNvPr id="13" name="Text 11"/>
          <p:cNvSpPr/>
          <p:nvPr/>
        </p:nvSpPr>
        <p:spPr>
          <a:xfrm>
            <a:off x="4224528" y="174650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60" b="1" dirty="0">
                <a:solidFill>
                  <a:srgbClr val="4C9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6.31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658368" y="2103120"/>
            <a:ext cx="5303520" cy="0"/>
          </a:xfrm>
          <a:prstGeom prst="line">
            <a:avLst/>
          </a:prstGeom>
          <a:noFill/>
          <a:ln w="6350">
            <a:solidFill>
              <a:srgbClr val="E7E0D0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12140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Instant Pot</a:t>
            </a:r>
            <a:endParaRPr lang="en-US" sz="1160" dirty="0"/>
          </a:p>
        </p:txBody>
      </p:sp>
      <p:sp>
        <p:nvSpPr>
          <p:cNvPr id="16" name="Text 14"/>
          <p:cNvSpPr/>
          <p:nvPr/>
        </p:nvSpPr>
        <p:spPr>
          <a:xfrm>
            <a:off x="2075688" y="21214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6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$71.90</a:t>
            </a:r>
            <a:endParaRPr lang="en-US" sz="1160" dirty="0"/>
          </a:p>
        </p:txBody>
      </p:sp>
      <p:sp>
        <p:nvSpPr>
          <p:cNvPr id="17" name="Text 15"/>
          <p:cNvSpPr/>
          <p:nvPr/>
        </p:nvSpPr>
        <p:spPr>
          <a:xfrm>
            <a:off x="3172968" y="212140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6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$32.56</a:t>
            </a:r>
            <a:endParaRPr lang="en-US" sz="1160" dirty="0"/>
          </a:p>
        </p:txBody>
      </p:sp>
      <p:sp>
        <p:nvSpPr>
          <p:cNvPr id="18" name="Text 16"/>
          <p:cNvSpPr/>
          <p:nvPr/>
        </p:nvSpPr>
        <p:spPr>
          <a:xfrm>
            <a:off x="4224528" y="212140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60" b="1" dirty="0">
                <a:solidFill>
                  <a:srgbClr val="4C9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6.01</a:t>
            </a:r>
            <a:endParaRPr lang="en-US" sz="1160" dirty="0"/>
          </a:p>
        </p:txBody>
      </p:sp>
      <p:sp>
        <p:nvSpPr>
          <p:cNvPr id="19" name="Shape 17"/>
          <p:cNvSpPr/>
          <p:nvPr/>
        </p:nvSpPr>
        <p:spPr>
          <a:xfrm>
            <a:off x="658368" y="2478024"/>
            <a:ext cx="5303520" cy="0"/>
          </a:xfrm>
          <a:prstGeom prst="line">
            <a:avLst/>
          </a:prstGeom>
          <a:noFill/>
          <a:ln w="6350">
            <a:solidFill>
              <a:srgbClr val="E7E0D0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249631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GoWise USA</a:t>
            </a:r>
            <a:endParaRPr lang="en-US" sz="1160" dirty="0"/>
          </a:p>
        </p:txBody>
      </p:sp>
      <p:sp>
        <p:nvSpPr>
          <p:cNvPr id="21" name="Text 19"/>
          <p:cNvSpPr/>
          <p:nvPr/>
        </p:nvSpPr>
        <p:spPr>
          <a:xfrm>
            <a:off x="2075688" y="249631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6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$56.30</a:t>
            </a:r>
            <a:endParaRPr lang="en-US" sz="1160" dirty="0"/>
          </a:p>
        </p:txBody>
      </p:sp>
      <p:sp>
        <p:nvSpPr>
          <p:cNvPr id="22" name="Text 20"/>
          <p:cNvSpPr/>
          <p:nvPr/>
        </p:nvSpPr>
        <p:spPr>
          <a:xfrm>
            <a:off x="3172968" y="249631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6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$31.15</a:t>
            </a:r>
            <a:endParaRPr lang="en-US" sz="1160" dirty="0"/>
          </a:p>
        </p:txBody>
      </p:sp>
      <p:sp>
        <p:nvSpPr>
          <p:cNvPr id="23" name="Text 21"/>
          <p:cNvSpPr/>
          <p:nvPr/>
        </p:nvSpPr>
        <p:spPr>
          <a:xfrm>
            <a:off x="4224528" y="249631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6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4.61</a:t>
            </a:r>
            <a:endParaRPr lang="en-US" sz="1160" dirty="0"/>
          </a:p>
        </p:txBody>
      </p:sp>
      <p:sp>
        <p:nvSpPr>
          <p:cNvPr id="24" name="Shape 22"/>
          <p:cNvSpPr/>
          <p:nvPr/>
        </p:nvSpPr>
        <p:spPr>
          <a:xfrm>
            <a:off x="658368" y="2852928"/>
            <a:ext cx="5303520" cy="0"/>
          </a:xfrm>
          <a:prstGeom prst="line">
            <a:avLst/>
          </a:prstGeom>
          <a:noFill/>
          <a:ln w="6350">
            <a:solidFill>
              <a:srgbClr val="E7E0D0">
                <a:alpha val="7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287121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</a:t>
            </a:r>
            <a:endParaRPr lang="en-US" sz="1160" dirty="0"/>
          </a:p>
        </p:txBody>
      </p:sp>
      <p:sp>
        <p:nvSpPr>
          <p:cNvPr id="26" name="Text 24"/>
          <p:cNvSpPr/>
          <p:nvPr/>
        </p:nvSpPr>
        <p:spPr>
          <a:xfrm>
            <a:off x="2075688" y="287121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6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$27.94</a:t>
            </a:r>
            <a:endParaRPr lang="en-US" sz="1160" dirty="0"/>
          </a:p>
        </p:txBody>
      </p:sp>
      <p:sp>
        <p:nvSpPr>
          <p:cNvPr id="27" name="Text 25"/>
          <p:cNvSpPr/>
          <p:nvPr/>
        </p:nvSpPr>
        <p:spPr>
          <a:xfrm>
            <a:off x="3172968" y="287121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6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$29.54</a:t>
            </a:r>
            <a:endParaRPr lang="en-US" sz="1160" dirty="0"/>
          </a:p>
        </p:txBody>
      </p:sp>
      <p:sp>
        <p:nvSpPr>
          <p:cNvPr id="28" name="Text 26"/>
          <p:cNvSpPr/>
          <p:nvPr/>
        </p:nvSpPr>
        <p:spPr>
          <a:xfrm>
            <a:off x="4224528" y="287121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6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2.99</a:t>
            </a:r>
            <a:endParaRPr lang="en-US" sz="1160" dirty="0"/>
          </a:p>
        </p:txBody>
      </p:sp>
      <p:sp>
        <p:nvSpPr>
          <p:cNvPr id="29" name="Shape 27"/>
          <p:cNvSpPr/>
          <p:nvPr/>
        </p:nvSpPr>
        <p:spPr>
          <a:xfrm>
            <a:off x="658368" y="3227832"/>
            <a:ext cx="5303520" cy="0"/>
          </a:xfrm>
          <a:prstGeom prst="line">
            <a:avLst/>
          </a:prstGeom>
          <a:noFill/>
          <a:ln w="6350">
            <a:solidFill>
              <a:srgbClr val="E7E0D0">
                <a:alpha val="7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324612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Chefman</a:t>
            </a:r>
            <a:endParaRPr lang="en-US" sz="1160" dirty="0"/>
          </a:p>
        </p:txBody>
      </p:sp>
      <p:sp>
        <p:nvSpPr>
          <p:cNvPr id="31" name="Text 29"/>
          <p:cNvSpPr/>
          <p:nvPr/>
        </p:nvSpPr>
        <p:spPr>
          <a:xfrm>
            <a:off x="2075688" y="32461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6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$61.57</a:t>
            </a:r>
            <a:endParaRPr lang="en-US" sz="1160" dirty="0"/>
          </a:p>
        </p:txBody>
      </p:sp>
      <p:sp>
        <p:nvSpPr>
          <p:cNvPr id="32" name="Text 30"/>
          <p:cNvSpPr/>
          <p:nvPr/>
        </p:nvSpPr>
        <p:spPr>
          <a:xfrm>
            <a:off x="3172968" y="32461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6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$29.37</a:t>
            </a:r>
            <a:endParaRPr lang="en-US" sz="1160" dirty="0"/>
          </a:p>
        </p:txBody>
      </p:sp>
      <p:sp>
        <p:nvSpPr>
          <p:cNvPr id="33" name="Text 31"/>
          <p:cNvSpPr/>
          <p:nvPr/>
        </p:nvSpPr>
        <p:spPr>
          <a:xfrm>
            <a:off x="4224528" y="324612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6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2.82</a:t>
            </a:r>
            <a:endParaRPr lang="en-US" sz="1160" dirty="0"/>
          </a:p>
        </p:txBody>
      </p:sp>
      <p:sp>
        <p:nvSpPr>
          <p:cNvPr id="34" name="Shape 32"/>
          <p:cNvSpPr/>
          <p:nvPr/>
        </p:nvSpPr>
        <p:spPr>
          <a:xfrm>
            <a:off x="658368" y="3602736"/>
            <a:ext cx="5303520" cy="0"/>
          </a:xfrm>
          <a:prstGeom prst="line">
            <a:avLst/>
          </a:prstGeom>
          <a:noFill/>
          <a:ln w="6350">
            <a:solidFill>
              <a:srgbClr val="E7E0D0">
                <a:alpha val="7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" y="43525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A2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ECONOMIC STORY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49808" y="4718304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4645152"/>
            <a:ext cx="5093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Markups are relatively similar across brands, mostly in the high-$20s to low-$30s.</a:t>
            </a:r>
            <a:endParaRPr lang="en-US" sz="1340" dirty="0"/>
          </a:p>
        </p:txBody>
      </p:sp>
      <p:sp>
        <p:nvSpPr>
          <p:cNvPr id="38" name="Shape 36"/>
          <p:cNvSpPr/>
          <p:nvPr/>
        </p:nvSpPr>
        <p:spPr>
          <a:xfrm>
            <a:off x="749808" y="5138928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5065776"/>
            <a:ext cx="5093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Ninja and Instant Pot win because their markups are paired with high market share.</a:t>
            </a:r>
            <a:endParaRPr lang="en-US" sz="1340" dirty="0"/>
          </a:p>
        </p:txBody>
      </p:sp>
      <p:sp>
        <p:nvSpPr>
          <p:cNvPr id="40" name="Shape 38"/>
          <p:cNvSpPr/>
          <p:nvPr/>
        </p:nvSpPr>
        <p:spPr>
          <a:xfrm>
            <a:off x="749808" y="5559552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5486400"/>
            <a:ext cx="5093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Cuisinart and Oster have the highest implied unit costs, but their small shares limit share-weighted profit.</a:t>
            </a:r>
            <a:endParaRPr lang="en-US" sz="1340" dirty="0"/>
          </a:p>
        </p:txBody>
      </p:sp>
      <p:sp>
        <p:nvSpPr>
          <p:cNvPr id="42" name="Shape 40"/>
          <p:cNvSpPr/>
          <p:nvPr/>
        </p:nvSpPr>
        <p:spPr>
          <a:xfrm>
            <a:off x="749808" y="5980176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" y="5907024"/>
            <a:ext cx="5093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negative inferred unit costs appear, so the demand-based cost exercise is internally plausible.</a:t>
            </a:r>
            <a:endParaRPr lang="en-US" sz="1340" dirty="0"/>
          </a:p>
        </p:txBody>
      </p:sp>
      <p:pic>
        <p:nvPicPr>
          <p:cNvPr id="44" name="Image 0" descr="/mnt/data/airfryer_assets/profit_by_br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480171"/>
            <a:ext cx="5257800" cy="2928395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6537960" y="48463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POSITIONING CALL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8046720" y="4818888"/>
            <a:ext cx="34290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Leaders: Ninja and Instant Pot. Premium niches: Cuisinart and Oster. Value players: Dash and Ultrean. Watchlist: Cosori and Chefman as share gainers.</a:t>
            </a:r>
            <a:endParaRPr lang="en-US" sz="1350" dirty="0"/>
          </a:p>
        </p:txBody>
      </p:sp>
      <p:sp>
        <p:nvSpPr>
          <p:cNvPr id="47" name="Text 44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83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Air-Fryer Market Intelligence  | 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Air-Fryer Market Intelligence</dc:title>
  <dc:subject>Air fryer market intelligence</dc:subject>
  <dc:creator>OpenAI</dc:creator>
  <cp:lastModifiedBy>OpenAI</cp:lastModifiedBy>
  <cp:revision>1</cp:revision>
  <dcterms:created xsi:type="dcterms:W3CDTF">2026-05-05T18:22:04Z</dcterms:created>
  <dcterms:modified xsi:type="dcterms:W3CDTF">2026-05-05T18:22:04Z</dcterms:modified>
</cp:coreProperties>
</file>